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Average"/>
      <p:regular r:id="rId20"/>
    </p:embeddedFont>
    <p:embeddedFont>
      <p:font typeface="Oswald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verage-regular.fntdata"/><Relationship Id="rId11" Type="http://schemas.openxmlformats.org/officeDocument/2006/relationships/slide" Target="slides/slide6.xml"/><Relationship Id="rId22" Type="http://schemas.openxmlformats.org/officeDocument/2006/relationships/font" Target="fonts/Oswald-bold.fntdata"/><Relationship Id="rId10" Type="http://schemas.openxmlformats.org/officeDocument/2006/relationships/slide" Target="slides/slide5.xml"/><Relationship Id="rId21" Type="http://schemas.openxmlformats.org/officeDocument/2006/relationships/font" Target="fonts/Oswald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80f91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80f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6f980f91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6f980f9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980f91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6f980f9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b4f7050b1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b4f7050b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c6f980f91_0_3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c6f980f9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c6f980f91_0_2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c6f980f9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b4f7050b1_0_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b4f7050b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b4f7050b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b4f7050b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b4f7050b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b4f7050b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b4f7050b1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b4f7050b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c6f980f91_0_8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c6f980f91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dbd45cd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dbd45cd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dbd45cd8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adbd45cd8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bb795d0c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abb795d0c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Telco Customer Churn 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November 28th, 2025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This </a:t>
            </a:r>
            <a:r>
              <a:rPr lang="en"/>
              <a:t>presentation</a:t>
            </a:r>
            <a:r>
              <a:rPr lang="en"/>
              <a:t> is based on Telco-communication churn data, using it we will deduce problems within the company that causes churn and changes that can be made in order to reduce customers leaving and increase profitability</a:t>
            </a:r>
            <a:endParaRPr/>
          </a:p>
        </p:txBody>
      </p:sp>
      <p:pic>
        <p:nvPicPr>
          <p:cNvPr id="67" name="Google Shape;67;p14" title="Screenshot 2025-11-28 1844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366702"/>
            <a:ext cx="9143999" cy="17767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the problem</a:t>
            </a:r>
            <a:endParaRPr/>
          </a:p>
        </p:txBody>
      </p:sp>
      <p:grpSp>
        <p:nvGrpSpPr>
          <p:cNvPr id="73" name="Google Shape;73;p15"/>
          <p:cNvGrpSpPr/>
          <p:nvPr/>
        </p:nvGrpSpPr>
        <p:grpSpPr>
          <a:xfrm>
            <a:off x="431925" y="1304875"/>
            <a:ext cx="2628925" cy="3416400"/>
            <a:chOff x="431925" y="1304875"/>
            <a:chExt cx="2628925" cy="3416400"/>
          </a:xfrm>
        </p:grpSpPr>
        <p:sp>
          <p:nvSpPr>
            <p:cNvPr id="74" name="Google Shape;74;p15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5"/>
          <p:cNvSpPr txBox="1"/>
          <p:nvPr>
            <p:ph idx="4294967295" type="body"/>
          </p:nvPr>
        </p:nvSpPr>
        <p:spPr>
          <a:xfrm>
            <a:off x="50642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Early Churn Crisis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7" name="Google Shape;77;p15"/>
          <p:cNvSpPr txBox="1"/>
          <p:nvPr>
            <p:ph idx="4294967295" type="body"/>
          </p:nvPr>
        </p:nvSpPr>
        <p:spPr>
          <a:xfrm>
            <a:off x="508325" y="1850300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53.33% churn in </a:t>
            </a:r>
            <a:r>
              <a:rPr lang="en" sz="1600"/>
              <a:t>first 6 months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42.8M at risk annual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3X Higher than long term </a:t>
            </a:r>
            <a:endParaRPr sz="1600"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grpSp>
        <p:nvGrpSpPr>
          <p:cNvPr id="78" name="Google Shape;78;p15"/>
          <p:cNvGrpSpPr/>
          <p:nvPr/>
        </p:nvGrpSpPr>
        <p:grpSpPr>
          <a:xfrm>
            <a:off x="3320450" y="1304875"/>
            <a:ext cx="2632500" cy="3416400"/>
            <a:chOff x="3320450" y="1304875"/>
            <a:chExt cx="2632500" cy="3416400"/>
          </a:xfrm>
        </p:grpSpPr>
        <p:sp>
          <p:nvSpPr>
            <p:cNvPr id="79" name="Google Shape;79;p15"/>
            <p:cNvSpPr txBox="1"/>
            <p:nvPr/>
          </p:nvSpPr>
          <p:spPr>
            <a:xfrm>
              <a:off x="3324050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33204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" name="Google Shape;81;p15"/>
          <p:cNvSpPr txBox="1"/>
          <p:nvPr>
            <p:ph idx="4294967295" type="body"/>
          </p:nvPr>
        </p:nvSpPr>
        <p:spPr>
          <a:xfrm>
            <a:off x="3389450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Contract Commitment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2" name="Google Shape;82;p15"/>
          <p:cNvSpPr txBox="1"/>
          <p:nvPr>
            <p:ph idx="4294967295" type="body"/>
          </p:nvPr>
        </p:nvSpPr>
        <p:spPr>
          <a:xfrm>
            <a:off x="3396775" y="1850300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42.71% Month to Month churn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2-year is 15x lower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55% of customer base is high-risk month to month</a:t>
            </a:r>
            <a:endParaRPr sz="1600"/>
          </a:p>
        </p:txBody>
      </p:sp>
      <p:grpSp>
        <p:nvGrpSpPr>
          <p:cNvPr id="83" name="Google Shape;83;p15"/>
          <p:cNvGrpSpPr/>
          <p:nvPr/>
        </p:nvGrpSpPr>
        <p:grpSpPr>
          <a:xfrm>
            <a:off x="6212550" y="1304875"/>
            <a:ext cx="2632500" cy="3416400"/>
            <a:chOff x="6212550" y="1304875"/>
            <a:chExt cx="2632500" cy="3416400"/>
          </a:xfrm>
        </p:grpSpPr>
        <p:sp>
          <p:nvSpPr>
            <p:cNvPr id="84" name="Google Shape;84;p15"/>
            <p:cNvSpPr/>
            <p:nvPr/>
          </p:nvSpPr>
          <p:spPr>
            <a:xfrm>
              <a:off x="621540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5"/>
            <p:cNvSpPr txBox="1"/>
            <p:nvPr/>
          </p:nvSpPr>
          <p:spPr>
            <a:xfrm>
              <a:off x="6212550" y="1304875"/>
              <a:ext cx="26325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" name="Google Shape;86;p15"/>
          <p:cNvSpPr txBox="1"/>
          <p:nvPr>
            <p:ph idx="4294967295" type="body"/>
          </p:nvPr>
        </p:nvSpPr>
        <p:spPr>
          <a:xfrm>
            <a:off x="627247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Demo. Vulnerabilities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7" name="Google Shape;87;p15"/>
          <p:cNvSpPr txBox="1"/>
          <p:nvPr>
            <p:ph idx="4294967295" type="body"/>
          </p:nvPr>
        </p:nvSpPr>
        <p:spPr>
          <a:xfrm>
            <a:off x="6286400" y="1850300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Two high risk segments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Seniors: 41.68%</a:t>
            </a:r>
            <a:r>
              <a:rPr lang="en" sz="1600"/>
              <a:t>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Single: 34.24%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6" title="Churn by 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850"/>
            <a:ext cx="2981076" cy="512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6" title="Churn By Family Statu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1075" y="6925"/>
            <a:ext cx="2981074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6" title="Contract typ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62150" y="13850"/>
            <a:ext cx="3181851" cy="512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Findings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6666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title"/>
          </p:nvPr>
        </p:nvSpPr>
        <p:spPr>
          <a:xfrm>
            <a:off x="311700" y="445025"/>
            <a:ext cx="8520600" cy="8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</a:rPr>
              <a:t>The Add-On Service Lever </a:t>
            </a:r>
            <a:endParaRPr sz="4200">
              <a:solidFill>
                <a:schemeClr val="lt1"/>
              </a:solidFill>
            </a:endParaRPr>
          </a:p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311700" y="1390400"/>
            <a:ext cx="8520600" cy="31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Services cut churn almost in half 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Opportunity</a:t>
            </a:r>
            <a:r>
              <a:rPr lang="en">
                <a:solidFill>
                  <a:schemeClr val="lt1"/>
                </a:solidFill>
              </a:rPr>
              <a:t>: 2,500+ customers without addons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lt1"/>
                </a:solidFill>
              </a:rPr>
              <a:t>Solutions</a:t>
            </a:r>
            <a:r>
              <a:rPr b="1" lang="en" sz="2100">
                <a:solidFill>
                  <a:schemeClr val="lt1"/>
                </a:solidFill>
              </a:rPr>
              <a:t> </a:t>
            </a:r>
            <a:endParaRPr b="1" sz="21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Free 3-month trial(online security + Tech support) 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Auto Enrollment(discounted) 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Results in 456+ customers 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22.8M rev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Higher ROI 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06" name="Google Shape;106;p18" title="Add on chur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2175" y="0"/>
            <a:ext cx="3281825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6666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311700" y="445025"/>
            <a:ext cx="8520600" cy="8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</a:rPr>
              <a:t>Payment method </a:t>
            </a:r>
            <a:endParaRPr sz="4200">
              <a:solidFill>
                <a:schemeClr val="lt1"/>
              </a:solidFill>
            </a:endParaRPr>
          </a:p>
        </p:txBody>
      </p:sp>
      <p:sp>
        <p:nvSpPr>
          <p:cNvPr id="112" name="Google Shape;112;p19"/>
          <p:cNvSpPr txBox="1"/>
          <p:nvPr>
            <p:ph idx="1" type="body"/>
          </p:nvPr>
        </p:nvSpPr>
        <p:spPr>
          <a:xfrm>
            <a:off x="311700" y="1390400"/>
            <a:ext cx="8520600" cy="3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Electronic Check: 45.29% Churn 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Mailed Check: 19.20% 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Bank Transfer: 16.73%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Credit Card(Auto pay): 15.25%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Solution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5-10%% discount for autopay enrollment 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1 Click Setup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Result: Migrate 40% - Save 357 Customers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18.6% rev 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13" name="Google Shape;113;p19" title="Screenshot 2025-11-28 00341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1450" y="0"/>
            <a:ext cx="416255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Solutions: Problem 1  </a:t>
            </a:r>
            <a:endParaRPr/>
          </a:p>
        </p:txBody>
      </p:sp>
      <p:sp>
        <p:nvSpPr>
          <p:cNvPr id="119" name="Google Shape;11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customer excellence Program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Proactive </a:t>
            </a:r>
            <a:r>
              <a:rPr lang="en"/>
              <a:t>check ins</a:t>
            </a:r>
            <a:r>
              <a:rPr lang="en"/>
              <a:t>(7,14,30 days)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Welcome Packages &amp; resolution </a:t>
            </a:r>
            <a:r>
              <a:rPr lang="en"/>
              <a:t>guarantees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Results: Reduce to 40% and save 197 customers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Solutions: Problem 2</a:t>
            </a:r>
            <a:endParaRPr/>
          </a:p>
        </p:txBody>
      </p:sp>
      <p:sp>
        <p:nvSpPr>
          <p:cNvPr id="125" name="Google Shape;125;p21"/>
          <p:cNvSpPr txBox="1"/>
          <p:nvPr>
            <p:ph idx="1" type="body"/>
          </p:nvPr>
        </p:nvSpPr>
        <p:spPr>
          <a:xfrm>
            <a:off x="311700" y="1152475"/>
            <a:ext cx="5033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Contract Upgrade Campaign 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15–20% discount </a:t>
            </a:r>
            <a:r>
              <a:rPr lang="en"/>
              <a:t>incentive</a:t>
            </a:r>
            <a:r>
              <a:rPr lang="en"/>
              <a:t> for contract upgrades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90-day offer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Bundled serviced with commitment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Results: Convert 35% to 1-year contracts, save 688 </a:t>
            </a:r>
            <a:r>
              <a:rPr lang="en"/>
              <a:t>customers </a:t>
            </a:r>
            <a:endParaRPr/>
          </a:p>
        </p:txBody>
      </p:sp>
      <p:pic>
        <p:nvPicPr>
          <p:cNvPr id="126" name="Google Shape;12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5950" y="-8850"/>
            <a:ext cx="372804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Solutions: Problem 3 </a:t>
            </a:r>
            <a:endParaRPr/>
          </a:p>
        </p:txBody>
      </p:sp>
      <p:sp>
        <p:nvSpPr>
          <p:cNvPr id="132" name="Google Shape;13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Demographic-Specific Programs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Dedicated Support for elderly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Community Engagement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Result: Save 500 customers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Proposed deliverables</a:t>
            </a:r>
            <a:endParaRPr/>
          </a:p>
        </p:txBody>
      </p:sp>
      <p:grpSp>
        <p:nvGrpSpPr>
          <p:cNvPr id="138" name="Google Shape;138;p23"/>
          <p:cNvGrpSpPr/>
          <p:nvPr/>
        </p:nvGrpSpPr>
        <p:grpSpPr>
          <a:xfrm>
            <a:off x="424825" y="1253973"/>
            <a:ext cx="8294372" cy="799416"/>
            <a:chOff x="424813" y="1177875"/>
            <a:chExt cx="8294372" cy="849900"/>
          </a:xfrm>
        </p:grpSpPr>
        <p:sp>
          <p:nvSpPr>
            <p:cNvPr id="139" name="Google Shape;139;p23"/>
            <p:cNvSpPr/>
            <p:nvPr/>
          </p:nvSpPr>
          <p:spPr>
            <a:xfrm>
              <a:off x="2927684" y="1177875"/>
              <a:ext cx="5791500" cy="849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23"/>
            <p:cNvSpPr/>
            <p:nvPr/>
          </p:nvSpPr>
          <p:spPr>
            <a:xfrm>
              <a:off x="424813" y="1177875"/>
              <a:ext cx="3055800" cy="849900"/>
            </a:xfrm>
            <a:prstGeom prst="homePlate">
              <a:avLst>
                <a:gd fmla="val 26719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1" name="Google Shape;141;p23"/>
          <p:cNvSpPr txBox="1"/>
          <p:nvPr>
            <p:ph idx="4294967295" type="body"/>
          </p:nvPr>
        </p:nvSpPr>
        <p:spPr>
          <a:xfrm>
            <a:off x="539675" y="1254200"/>
            <a:ext cx="24225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Question 1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2" name="Google Shape;142;p23"/>
          <p:cNvSpPr txBox="1"/>
          <p:nvPr>
            <p:ph idx="4294967295" type="body"/>
          </p:nvPr>
        </p:nvSpPr>
        <p:spPr>
          <a:xfrm>
            <a:off x="3480453" y="1254158"/>
            <a:ext cx="51117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If the 34.24% of churned </a:t>
            </a:r>
            <a:r>
              <a:rPr lang="en">
                <a:solidFill>
                  <a:schemeClr val="lt1"/>
                </a:solidFill>
              </a:rPr>
              <a:t>singles were retained, how much profit would be created/made?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143" name="Google Shape;143;p23"/>
          <p:cNvGrpSpPr/>
          <p:nvPr/>
        </p:nvGrpSpPr>
        <p:grpSpPr>
          <a:xfrm>
            <a:off x="424825" y="2127339"/>
            <a:ext cx="8294360" cy="799416"/>
            <a:chOff x="424813" y="2075689"/>
            <a:chExt cx="8294360" cy="849900"/>
          </a:xfrm>
        </p:grpSpPr>
        <p:sp>
          <p:nvSpPr>
            <p:cNvPr id="144" name="Google Shape;144;p23"/>
            <p:cNvSpPr/>
            <p:nvPr/>
          </p:nvSpPr>
          <p:spPr>
            <a:xfrm>
              <a:off x="2927672" y="2075689"/>
              <a:ext cx="5791500" cy="849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23"/>
            <p:cNvSpPr/>
            <p:nvPr/>
          </p:nvSpPr>
          <p:spPr>
            <a:xfrm>
              <a:off x="424813" y="2075689"/>
              <a:ext cx="3055800" cy="849900"/>
            </a:xfrm>
            <a:prstGeom prst="homePlate">
              <a:avLst>
                <a:gd fmla="val 26719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6" name="Google Shape;146;p23"/>
          <p:cNvSpPr txBox="1"/>
          <p:nvPr>
            <p:ph idx="4294967295" type="body"/>
          </p:nvPr>
        </p:nvSpPr>
        <p:spPr>
          <a:xfrm>
            <a:off x="539675" y="2127450"/>
            <a:ext cx="24225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Question 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7" name="Google Shape;147;p23"/>
          <p:cNvSpPr txBox="1"/>
          <p:nvPr>
            <p:ph idx="4294967295" type="body"/>
          </p:nvPr>
        </p:nvSpPr>
        <p:spPr>
          <a:xfrm>
            <a:off x="3480453" y="2127465"/>
            <a:ext cx="51117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What is the </a:t>
            </a:r>
            <a:r>
              <a:rPr lang="en">
                <a:solidFill>
                  <a:schemeClr val="lt1"/>
                </a:solidFill>
              </a:rPr>
              <a:t>singular</a:t>
            </a:r>
            <a:r>
              <a:rPr lang="en">
                <a:solidFill>
                  <a:schemeClr val="lt1"/>
                </a:solidFill>
              </a:rPr>
              <a:t> biggest factor of revenue loss and how much rev. </a:t>
            </a:r>
            <a:r>
              <a:rPr lang="en">
                <a:solidFill>
                  <a:schemeClr val="lt1"/>
                </a:solidFill>
              </a:rPr>
              <a:t>w</a:t>
            </a:r>
            <a:r>
              <a:rPr lang="en">
                <a:solidFill>
                  <a:schemeClr val="lt1"/>
                </a:solidFill>
              </a:rPr>
              <a:t>ould be generated if fixed?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8" name="Google Shape;148;p23"/>
          <p:cNvSpPr txBox="1"/>
          <p:nvPr>
            <p:ph idx="4294967295" type="body"/>
          </p:nvPr>
        </p:nvSpPr>
        <p:spPr>
          <a:xfrm>
            <a:off x="539675" y="3000775"/>
            <a:ext cx="24225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Deliverable 3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9" name="Google Shape;149;p23"/>
          <p:cNvSpPr txBox="1"/>
          <p:nvPr>
            <p:ph idx="4294967295" type="body"/>
          </p:nvPr>
        </p:nvSpPr>
        <p:spPr>
          <a:xfrm>
            <a:off x="3480453" y="3004317"/>
            <a:ext cx="51117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Lorem ipsum dolor sit amet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Sed do eiusmod tempor incididunt ut labore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0" name="Google Shape;150;p23"/>
          <p:cNvSpPr txBox="1"/>
          <p:nvPr>
            <p:ph idx="4294967295" type="body"/>
          </p:nvPr>
        </p:nvSpPr>
        <p:spPr>
          <a:xfrm>
            <a:off x="539675" y="3874100"/>
            <a:ext cx="24225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Deliverable 4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1" name="Google Shape;151;p23"/>
          <p:cNvSpPr txBox="1"/>
          <p:nvPr>
            <p:ph idx="4294967295" type="body"/>
          </p:nvPr>
        </p:nvSpPr>
        <p:spPr>
          <a:xfrm>
            <a:off x="3480453" y="3876311"/>
            <a:ext cx="51117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Lorem ipsum dolor sit amet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Sed do eiusmod tempor incididunt ut labore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4" title="Screenshot 2025-12-04 22565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5" title="Screenshot 2025-12-04 22552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type="title"/>
          </p:nvPr>
        </p:nvSpPr>
        <p:spPr>
          <a:xfrm>
            <a:off x="311700" y="1706425"/>
            <a:ext cx="8520600" cy="14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900"/>
              <a:t>Questions?</a:t>
            </a:r>
            <a:endParaRPr sz="6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